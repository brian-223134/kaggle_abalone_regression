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7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F2A47"/>
                </a:solidFill>
                <a:latin typeface="Malgun Gothic"/>
              </a:rPr>
              <a:t>Rings 분포 (count)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주요 구간 (5~15)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  <c:pt idx="6">
                    <c:v>9</c:v>
                  </c:pt>
                  <c:pt idx="7">
                    <c:v>10</c:v>
                  </c:pt>
                  <c:pt idx="8">
                    <c:v>11</c:v>
                  </c:pt>
                  <c:pt idx="9">
                    <c:v>12</c:v>
                  </c:pt>
                  <c:pt idx="10">
                    <c:v>13</c:v>
                  </c:pt>
                  <c:pt idx="11">
                    <c:v>14</c:v>
                  </c:pt>
                  <c:pt idx="12">
                    <c:v>15</c:v>
                  </c:pt>
                  <c:pt idx="13">
                    <c:v>16</c:v>
                  </c:pt>
                  <c:pt idx="14">
                    <c:v>17</c:v>
                  </c:pt>
                  <c:pt idx="15">
                    <c:v>18</c:v>
                  </c:pt>
                  <c:pt idx="16">
                    <c:v>19</c:v>
                  </c:pt>
                  <c:pt idx="17">
                    <c:v>20+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2500</c:v>
                </c:pt>
                <c:pt idx="3">
                  <c:v>5000</c:v>
                </c:pt>
                <c:pt idx="4">
                  <c:v>9000</c:v>
                </c:pt>
                <c:pt idx="5">
                  <c:v>13000</c:v>
                </c:pt>
                <c:pt idx="6">
                  <c:v>16000</c:v>
                </c:pt>
                <c:pt idx="7">
                  <c:v>14500</c:v>
                </c:pt>
                <c:pt idx="8">
                  <c:v>11000</c:v>
                </c:pt>
                <c:pt idx="9">
                  <c:v>7500</c:v>
                </c:pt>
                <c:pt idx="10">
                  <c:v>4500</c:v>
                </c:pt>
                <c:pt idx="11">
                  <c:v>2700</c:v>
                </c:pt>
                <c:pt idx="12">
                  <c:v>1500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오른쪽 꼬리</c:v>
                </c:pt>
              </c:strCache>
            </c:strRef>
          </c:tx>
          <c:spPr>
            <a:solidFill>
              <a:srgbClr val="B7C2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3</c:v>
                  </c:pt>
                  <c:pt idx="1">
                    <c:v>4</c:v>
                  </c:pt>
                  <c:pt idx="2">
                    <c:v>5</c:v>
                  </c:pt>
                  <c:pt idx="3">
                    <c:v>6</c:v>
                  </c:pt>
                  <c:pt idx="4">
                    <c:v>7</c:v>
                  </c:pt>
                  <c:pt idx="5">
                    <c:v>8</c:v>
                  </c:pt>
                  <c:pt idx="6">
                    <c:v>9</c:v>
                  </c:pt>
                  <c:pt idx="7">
                    <c:v>10</c:v>
                  </c:pt>
                  <c:pt idx="8">
                    <c:v>11</c:v>
                  </c:pt>
                  <c:pt idx="9">
                    <c:v>12</c:v>
                  </c:pt>
                  <c:pt idx="10">
                    <c:v>13</c:v>
                  </c:pt>
                  <c:pt idx="11">
                    <c:v>14</c:v>
                  </c:pt>
                  <c:pt idx="12">
                    <c:v>15</c:v>
                  </c:pt>
                  <c:pt idx="13">
                    <c:v>16</c:v>
                  </c:pt>
                  <c:pt idx="14">
                    <c:v>17</c:v>
                  </c:pt>
                  <c:pt idx="15">
                    <c:v>18</c:v>
                  </c:pt>
                  <c:pt idx="16">
                    <c:v>19</c:v>
                  </c:pt>
                  <c:pt idx="17">
                    <c:v>20+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250</c:v>
                </c:pt>
                <c:pt idx="1">
                  <c:v>800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900</c:v>
                </c:pt>
                <c:pt idx="14">
                  <c:v>500</c:v>
                </c:pt>
                <c:pt idx="15">
                  <c:v>300</c:v>
                </c:pt>
                <c:pt idx="16">
                  <c:v>150</c:v>
                </c:pt>
                <c:pt idx="17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7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F2A47"/>
                </a:solidFill>
                <a:latin typeface="Malgun Gothic"/>
              </a:rPr>
              <a:t>Baseline 모델별 CV RMSLE mean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RMSLE mean</c:v>
                </c:pt>
              </c:strCache>
            </c:strRef>
          </c:tx>
          <c:spPr>
            <a:solidFill>
              <a:srgbClr val="B7C2CC">
                <a:alpha val="7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Dummy median</c:v>
                  </c:pt>
                  <c:pt idx="1">
                    <c:v>Ridge</c:v>
                  </c:pt>
                  <c:pt idx="2">
                    <c:v>Ridge + log</c:v>
                  </c:pt>
                  <c:pt idx="3">
                    <c:v>RandomForest</c:v>
                  </c:pt>
                  <c:pt idx="4">
                    <c:v>HGBR</c:v>
                  </c:pt>
                  <c:pt idx="5">
                    <c:v>HGBR + log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0.286738</c:v>
                </c:pt>
                <c:pt idx="1">
                  <c:v>0.15999</c:v>
                </c:pt>
                <c:pt idx="2">
                  <c:v>0.158517</c:v>
                </c:pt>
                <c:pt idx="3">
                  <c:v>0.151209</c:v>
                </c:pt>
                <c:pt idx="4">
                  <c:v>0.150623</c:v>
                </c:pt>
                <c:pt idx="5">
                  <c:v>0.149917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7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F2A47"/>
                </a:solidFill>
                <a:latin typeface="Malgun Gothic"/>
              </a:rPr>
              <a:t>Modeling 후보 비교 (zoom: 0.1496–0.1502)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RMSLE mean</c:v>
                </c:pt>
              </c:strCache>
            </c:strRef>
          </c:tx>
          <c:spPr>
            <a:solidFill>
              <a:srgbClr val="B7C2CC">
                <a:alpha val="70000"/>
              </a:srgbClr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v2_hgb_log_baseline</c:v>
                  </c:pt>
                  <c:pt idx="1">
                    <c:v>v2_hgb_log_clip_005_995</c:v>
                  </c:pt>
                  <c:pt idx="2">
                    <c:v>v2_hgb_log_lr0035_iter650</c:v>
                  </c:pt>
                  <c:pt idx="3">
                    <c:v>v1_hgb_log_baseline</c:v>
                  </c:pt>
                  <c:pt idx="4">
                    <c:v>v2_hgb_log_leaf45</c:v>
                  </c:pt>
                  <c:pt idx="5">
                    <c:v>v2_hgb_log_leaf45_clip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0.150008</c:v>
                </c:pt>
                <c:pt idx="1">
                  <c:v>0.149987</c:v>
                </c:pt>
                <c:pt idx="2">
                  <c:v>0.149947</c:v>
                </c:pt>
                <c:pt idx="3">
                  <c:v>0.149917</c:v>
                </c:pt>
                <c:pt idx="4">
                  <c:v>0.149875</c:v>
                </c:pt>
                <c:pt idx="5">
                  <c:v>0.149826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02"/>
          <c:min val="0.1496"/>
        </c:scaling>
        <c:delete val="0"/>
        <c:axPos val="b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7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0F2A47"/>
                </a:solidFill>
                <a:latin typeface="Malgun Gothic"/>
              </a:rPr>
              <a:t>단일 모델 vs 앙상블 (zoom: 0.1473–0.1480)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RMSLE</c:v>
                </c:pt>
              </c:strCache>
            </c:strRef>
          </c:tx>
          <c:spPr>
            <a:solidFill>
              <a:srgbClr val="B7C2CC">
                <a:alpha val="70000"/>
              </a:srgbClr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XGBoost</c:v>
                  </c:pt>
                  <c:pt idx="1">
                    <c:v>CatBoost</c:v>
                  </c:pt>
                  <c:pt idx="2">
                    <c:v>LGBM</c:v>
                  </c:pt>
                  <c:pt idx="3">
                    <c:v>Ensemble (1:1:1)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0.147903</c:v>
                </c:pt>
                <c:pt idx="1">
                  <c:v>0.147773</c:v>
                </c:pt>
                <c:pt idx="2">
                  <c:v>0.147607</c:v>
                </c:pt>
                <c:pt idx="3">
                  <c:v>0.147529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0" i="0" strike="noStrike" sz="1000" u="none">
                  <a:solidFill>
                    <a:srgbClr val="0F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8"/>
          <c:min val="0.1473"/>
        </c:scaling>
        <c:delete val="0"/>
        <c:axPos val="b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RMSLE</c:v>
                </c:pt>
              </c:strCache>
            </c:strRef>
          </c:tx>
          <c:spPr>
            <a:solidFill>
              <a:srgbClr val="E76F51"/>
            </a:solidFill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A4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E76F51"/>
              </a:solidFill>
              <a:ln w="12700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Modeling</c:v>
                  </c:pt>
                  <c:pt idx="2">
                    <c:v>Target Encoding</c:v>
                  </c:pt>
                  <c:pt idx="3">
                    <c:v>External</c:v>
                  </c:pt>
                  <c:pt idx="4">
                    <c:v>Ensemble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0.149919</c:v>
                </c:pt>
                <c:pt idx="1">
                  <c:v>0.149828</c:v>
                </c:pt>
                <c:pt idx="2">
                  <c:v>0.147765</c:v>
                </c:pt>
                <c:pt idx="3">
                  <c:v>0.147607</c:v>
                </c:pt>
                <c:pt idx="4">
                  <c:v>0.147529</c:v>
                </c:pt>
              </c:numCache>
            </c:numRef>
          </c:val>
          <c:smooth val="0"/>
        </c:ser>
        <c:dLbls>
          <c:numFmt formatCode="0.000000" sourceLinked="0"/>
          <c:txPr>
            <a:bodyPr/>
            <a:lstStyle/>
            <a:p>
              <a:pPr>
                <a:defRPr b="1" i="0" strike="noStrike" sz="1100" u="none">
                  <a:solidFill>
                    <a:srgbClr val="0F2A4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A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05"/>
          <c:min val="0.147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0.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인사. 이 발표는 단순히 점수 한 개를 만든 기록이 아니라, RMSLE 회귀 문제를 어떤 순서로 풀었는지에 대한 설명이다. 오늘 0.149828 → 0.147529라는 작은 숫자 변화 뒤에 어떤 의사결정이 있었는지 같이 보겠다는 한 문장으로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청중에게 어떤 흐름으로 따라오면 되는지 안내. 결과만 보면 0.149 → 0.147 변화지만, 그 사이의 의사결정을 같이 보겠다고 강조한다. 5번 항목(Target Encoding)이 발표의 핵심 클라이맥스라는 점을 미리 슬쩍 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규모와 컬럼 구조를 빠르게 짚는다. Whole weight.1, Whole weight.2가 사실상 Shucked/Viscera라는 점만 빠르게 설명하고, EDA 단계에서 Shucked_weight, Viscera_weight로 rename했다고 언급. 타깃은 Rings, 평가지표는 RMSLE — 두 가지가 다음 슬라이드에서 왜 중요한지로 자연스럽게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절대 오차가 같아도 작은 값에서 더 크게 깎인다는 점이 왜 log target 학습으로 이어지는지 1분 설명. 이 슬라이드에서 청중이 왜 굳이 log를 거치는지 이해하지 못하면 이후 결과 비교가 의미 없다. 음수 예측이 들어가면 RMSLE가 정의되지 않는다는 실무 디테일도 짚고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5분짜리 EDA 결과를 6줄로 압축한 슬라이드. 데이터가 깨끗했기 때문에 시간을 모델링·검증 설계에 더 쓸 수 있었다고 결론. 히스토그램에서 5~15 구간 집중과 오른쪽 꼬리(코랄 → 회색 전환)를 시각적으로 짚어주면 다음 슬라이드의 log target 결정 근거가 자연스러워진다.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한 노트북에 다 안 넣었는지 설명. 단계별로 질문이 다르고, 실패한 실험을 되돌리기 쉬워야 한다는 점을 강조. 표 우측 색깔 차이로 '기본 라인 5개(검정)'과 '개선 라인 3개(코랄)'을 구분했다는 점을 짚어주면 다음 슬라이드 흐름이 자연스럽다.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best는 HGBR + log target (OOF 0.149919). Ridge보다 부스팅이 약 0.01 점 낮다. 이 시점에서 'tabular는 부스팅 + log target이 출발점'이라는 결정을 내렸고, 다음 슬라이드의 v2 피처 + HGBR 튜닝이 그 연장선이다.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ratio·log 피처와 HGBR 튜닝만으로는 한계라는 결론을 분명히 한다. fold std가 약 0.0009인데 baseline 대비 개선이 0.0001이라는 점이 중요. 다음 슬라이드(target encoding)에서 방향을 바꾸게 된 트리거다.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발표의 클라이맥스. 왜 모델 교체보다 피처 변경이 더 컸는가를 설명. 누수 방지 부분에서 '전체 train으로 mapping을 만들면 validation 점수가 더 좋아 보이지만 leaderboard에서 망가진다'는 점을 강조. 다이어그램의 빨간 X 표시(validation → mapping 금지)에 주목하게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개선폭은 작지만 재현 가능한 방식으로 외부 데이터를 더했다는 점이 중요. Public/Private 차이를 보고 다음에 비중 조정 가능. 다이어그램에서 빨간 X(UCI → validation 금지)가 그대로 유지된다는 점이 'fold-safe' 원칙이 실험 전체에 일관되게 적용됐다는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best는 LGBM이지만, 세 모델의 오차 패턴이 달라 1:1:1 평균이 더 안정적. log 평균(equal_log) 0.147530으로 거의 동일했다는 점을 부언해 '튜닝보다 다양성' 메시지를 보강한다.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큰 낙폭은 Modeling → Target Encoding 구간. 청중에게 '여기가 발표의 결정적 구간이었다'고 못박는다. 다른 구간은 점진 개선이지만, TE 단계만 fold std를 훨씬 넘는 개선폭이라는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프로젝트가 검증·재현성 측면에서 어떤 원칙을 지켰는가를 정리하는 슬라이드. Q&amp;A에서 가장 많이 받을 만한 질문(왜 LGBM, 왜 fold-safe, 왜 test를 모델 선택에 안 썼는지)을 미리 답하는 의도.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OOF는 0.147529. public/private 점수가 들어오면 어느 방향이 leaderboard와 일치하는지 보고 우선순위를 결정하겠다고 마무리. 5개 후보 중 어떤 것을 먼저 시도할지는 점수 들어와봐야 알 수 있다는 점이 중요.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짧게 마무리. 핵심 메시지 3개 다시 짚고 청중 질문 받기.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3200400"/>
            <a:ext cx="6400800" cy="6400800"/>
          </a:xfrm>
          <a:prstGeom prst="ellipse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E76F51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 PLAYGROUND S4E4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Abalone Regression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2BB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RMSLE 최적화 실험 정리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RMSLE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0.149828</a:t>
            </a:r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0.147529</a:t>
            </a:r>
            <a:pPr indent="0" marL="0">
              <a:buNone/>
            </a:pPr>
            <a:r>
              <a:rPr lang="en-US" sz="14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 단계별 비교 기록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365760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[발표자]</a:t>
            </a:r>
            <a:pPr indent="0" marL="0">
              <a:buNone/>
            </a:pPr>
            <a:r>
              <a:rPr lang="en-US" sz="130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[YYYY-MM-DD]</a:t>
            </a:r>
            <a:pPr indent="0" marL="0">
              <a:buNone/>
            </a:pPr>
            <a:r>
              <a:rPr lang="en-US" sz="130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[조직]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결과보다 의사결정 흐름을 따라가도록 구성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21945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평가지표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2194560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194560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402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78040" y="21945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탐색(EDA) 핵심 결론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36392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8211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31363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파이프라인 — 노트북 분리 이유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3136392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136392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182112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78040" y="31363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→ Modeling 진행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78224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239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463040" y="407822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전환점: Target Encoding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4078224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078224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123944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78040" y="407822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데이터와 앙상블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020056"/>
            <a:ext cx="534924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020056"/>
            <a:ext cx="73152" cy="777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65776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463040" y="50200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강조 포인트 · 다음 단계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· 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정의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 Playground Series S4E4 — 전복의 Rings 회귀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066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 Playground S4E4 Abalone (UCI 합성)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615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Length / Diameter / Height + 4종 weight + Sex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163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Rings   (Age = Rings + 1.5)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7124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RMSLE — 비율 오차 민감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6035040" cy="10058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72000"/>
            <a:ext cx="54864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 </a:t>
            </a:r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Whole weight.1 / .2 → </a:t>
            </a:r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Shucked_weight / Viscera_weight </a:t>
            </a:r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rename.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920240"/>
            <a:ext cx="4572000" cy="12801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B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90,615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966960" y="20574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ROWS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291840"/>
            <a:ext cx="457200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3383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60,411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966960" y="34290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ROWS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4663440"/>
            <a:ext cx="4572000" cy="12801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754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4,177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966960" y="4800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ORIGINAL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 정의와 평가지표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·  METRIC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평가지표 — RMSLE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오차에 민감 → log target 학습 + clipping이 필수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03520" cy="10972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RMSLE = sqrt( mean( (log1p(pred) − log1p(actual))² ) 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64592" cy="1645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오차 민감 — 작은 Rings에서의 실수가 크게 반영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예측 정의 X — 항상 np.clip(pred, 0, None)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64592" cy="164592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log1p(Rings)로 학습 → expm1로 복원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5212080" cy="128016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A — 작은 값 구간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395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</a:t>
            </a:r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pred </a:t>
            </a:r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2761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2124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0.511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383280"/>
            <a:ext cx="5212080" cy="128016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B — 큰 값 구간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767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</a:t>
            </a:r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pred </a:t>
            </a:r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41330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2124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0.094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846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절대 오차여도 RMSLE는 작은 값에서 더 크게 깎인다.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 정의와 평가지표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· 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핵심 결론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비용 낮음 → 모델링·검증 설계에 시간 투입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결측치·중복 없음 — 정제 비용 낮음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분포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Rings 5~15 집중, 오른쪽 꼬리 — log target 후보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상관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Shell_weight / Height / Diameter / Length / Whole_weight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 처리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Sex별 분포 차이 → one-hot 기본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4572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Height==0, 비율 극단값 — CV로 처리법 비교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54864" cy="5486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212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5212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train/test 입력 drift 작음 → 점검용으로만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263640" y="19202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263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Rings는 오른쪽 꼬리가 있는 count형 타깃.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EDA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· 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파이프라인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1개당 질문 1개 — 추적·롤백을 쉽게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411480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01_eda.ipynb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어떤 형태인가?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품질·분포·상관·이상치·drift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02_feature_engineering.ipynb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정보를 학습 가능한 숫자로?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피처셋 생성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03_baseline.ipynb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기준선은 어디인가?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모델 비교, RMSLE baseline 확보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04_modeling.ipynb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방향에서 얼마나 개선되는가?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피처, HGBR tuning, OOF diagnostics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05_submission.ipynb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 파일이 올바르게 만들어지는가?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HGBR 학습과 submission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06_target_encoding_lgbm.py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상위권 접근의 핵심 피처가 먹히는가?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OOF-safe target encoding + LGBM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07_external_data_lgbm.py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UCI 데이터가 도움이 되는가?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데이터 결합 실험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08_boosting_ensemble.py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다양성으로 더 낮출 수 있는가?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LGBM/XGBoost/CatBoost 앙상블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파이프라인 (HGBR)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5760720"/>
            <a:ext cx="128016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01_eda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28800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975104" y="5760720"/>
            <a:ext cx="128016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02_fe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55264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401568" y="5760720"/>
            <a:ext cx="128016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6" name="Text 13"/>
          <p:cNvSpPr/>
          <p:nvPr/>
        </p:nvSpPr>
        <p:spPr>
          <a:xfrm>
            <a:off x="3401568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03_baseline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81728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28032" y="5760720"/>
            <a:ext cx="128016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04_modeling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08192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54496" y="5760720"/>
            <a:ext cx="128016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2" name="Text 19"/>
          <p:cNvSpPr/>
          <p:nvPr/>
        </p:nvSpPr>
        <p:spPr>
          <a:xfrm>
            <a:off x="6254496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05_submission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671816" y="5486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개선 (TE / External / Ensemble)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671816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818120" y="5760720"/>
            <a:ext cx="128016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3"/>
          <p:cNvSpPr/>
          <p:nvPr/>
        </p:nvSpPr>
        <p:spPr>
          <a:xfrm>
            <a:off x="7818120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06_te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098280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244584" y="5760720"/>
            <a:ext cx="128016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9" name="Text 26"/>
          <p:cNvSpPr/>
          <p:nvPr/>
        </p:nvSpPr>
        <p:spPr>
          <a:xfrm>
            <a:off x="9244584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07_ext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524744" y="5966460"/>
            <a:ext cx="14630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0671048" y="5760720"/>
            <a:ext cx="128016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2" name="Text 29"/>
          <p:cNvSpPr/>
          <p:nvPr/>
        </p:nvSpPr>
        <p:spPr>
          <a:xfrm>
            <a:off x="10671048" y="5760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08_ensemble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실험 파이프라인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· 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비교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fold·metric — best는 HGBR + log target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852160" cy="329184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RMSLE mean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 + log target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0.149917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0.000889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0.150623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0.000923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0.151209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0.000756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Ridge + log target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0.158517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0.001720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Ridge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0.159990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0.001744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Dummy median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0.286738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0.001278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86400"/>
            <a:ext cx="5852160" cy="7772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486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BASELINE </a:t>
            </a:r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HistGradientBoosting + log target  →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0.149919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75120" y="192024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Baseline → Modeling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·  MODELING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피처 + HGBR 튜닝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개선폭이 fold 변동 수준 — 방향 전환의 트리거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743200" cy="1188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SET v1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피처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+ one-hot + 비율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743200" cy="118872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SET v2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피처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shape ratio · component ·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669280" cy="54864"/>
          </a:xfrm>
          <a:prstGeom prst="rect">
            <a:avLst/>
          </a:prstGeom>
          <a:solidFill>
            <a:srgbClr val="D6DE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— best modeling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v2_hgb_log_leaf45_clip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RMSLE  </a:t>
            </a:r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0.149828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vs baseline 0.149919  →  </a:t>
            </a:r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−0.0001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5852160" cy="1188720"/>
          </a:xfrm>
          <a:prstGeom prst="rect">
            <a:avLst/>
          </a:prstGeom>
          <a:solidFill>
            <a:srgbClr val="FCEDE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20640"/>
            <a:ext cx="64008" cy="1188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12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486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ratio · log 피처 + HGBR 튜닝만으로는 개선폭이 fold std(≈0.0009)보다 작다.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방향 전환: 모델·피처 패러다임을 바꾼다.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675120" y="192024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667512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+ HGBR 튜닝의 개선폭은 0.0001 수준 — 다음 단계 트리거.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Baseline → Modeling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· 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전환점 — Target Encoding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fold-safe 구현으로 누수 방지 + LGBM 결합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ADDED FEATURES (5)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404872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Sweight_avg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Shell_weight별 평균 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700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Height_avg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6700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clipping된 Height별 평균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72968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54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Weight_avg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0540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Whole_weight별 평균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55701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381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Viscera_weight_avg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438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Viscera_weight별 평균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941064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Sex_avg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38221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Sex별 평균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86400" cy="17373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v2_te_lgbm_log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RMSLE  </a:t>
            </a:r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0.147765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943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HGBR best 0.149828   →   −0.002 (이번 발표의 가장 큰 개선폭)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1920240"/>
            <a:ext cx="2560320" cy="502920"/>
          </a:xfrm>
          <a:prstGeom prst="rect">
            <a:avLst/>
          </a:prstGeom>
          <a:solidFill>
            <a:srgbClr val="0F2A47"/>
          </a:solidFill>
          <a:ln w="6350">
            <a:solidFill>
              <a:srgbClr val="0F2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5-fold split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52560" y="24231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0" y="2834640"/>
            <a:ext cx="23774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 k — train split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0" y="2834640"/>
            <a:ext cx="23774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 k — validation split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794760"/>
            <a:ext cx="2377440" cy="548640"/>
          </a:xfrm>
          <a:prstGeom prst="rect">
            <a:avLst/>
          </a:prstGeom>
          <a:solidFill>
            <a:srgbClr val="0F2A47"/>
          </a:solidFill>
          <a:ln w="6350">
            <a:solidFill>
              <a:srgbClr val="0F2A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mapping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087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3794760"/>
            <a:ext cx="2377440" cy="54864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split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4087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(mapping 적용)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3383280"/>
            <a:ext cx="0" cy="411480"/>
          </a:xfrm>
          <a:prstGeom prst="line">
            <a:avLst/>
          </a:prstGeom>
          <a:noFill/>
          <a:ln w="1778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78240" y="4069080"/>
            <a:ext cx="365760" cy="0"/>
          </a:xfrm>
          <a:prstGeom prst="line">
            <a:avLst/>
          </a:prstGeom>
          <a:noFill/>
          <a:ln w="1778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332720" y="3383280"/>
            <a:ext cx="-1554480" cy="411480"/>
          </a:xfrm>
          <a:prstGeom prst="line">
            <a:avLst/>
          </a:prstGeom>
          <a:noFill/>
          <a:ln w="12700">
            <a:solidFill>
              <a:srgbClr val="B7C2CC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464040" y="3474720"/>
            <a:ext cx="228600" cy="22860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4040" y="3703320"/>
            <a:ext cx="228600" cy="-22860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4709160"/>
            <a:ext cx="155448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train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55280" y="49606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83880" y="4709160"/>
            <a:ext cx="1828800" cy="502920"/>
          </a:xfrm>
          <a:prstGeom prst="rect">
            <a:avLst/>
          </a:prstGeom>
          <a:solidFill>
            <a:srgbClr val="0F2A47"/>
          </a:solidFill>
          <a:ln w="6350">
            <a:solidFill>
              <a:srgbClr val="0F2A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mapping (refit)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012680" y="496062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241280" y="4709160"/>
            <a:ext cx="128016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3272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 split은 mapping 학습에 절대 들어가지 않는다.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Target Encoding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·  EXTERNAL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UCI 외부 데이터 결합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fold-safe 원칙 유지 — train split에만 결합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 데이터는 UCI 원본 기반 합성 — 원본 4,177건을 학습 보강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0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validation은 Kaggle fold validation 행에 대해서만 계산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63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UCI는 해당 fold의 train split에만 결합 (validation 미접근)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28016" cy="12801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데이터에도 v2 피처 스키마 동일 적용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5669280" cy="15544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754880"/>
            <a:ext cx="64008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v2_te_lgbm_log_external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RMSLE  </a:t>
            </a:r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0.147607</a:t>
            </a:r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(−0.00016)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개선폭은 작지만 재현 가능한 방식으로 외부 데이터를 더했다.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1737360" cy="9144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external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4,177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3794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E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(v2 스키마 적용)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2560320"/>
            <a:ext cx="2194560" cy="59436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 k — train split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69680" y="3703320"/>
            <a:ext cx="2194560" cy="594360"/>
          </a:xfrm>
          <a:prstGeom prst="rect">
            <a:avLst/>
          </a:prstGeom>
          <a:solidFill>
            <a:srgbClr val="F4F6F8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 k — validation split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3337560"/>
            <a:ext cx="548640" cy="-27432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36676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OK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321040" y="3749040"/>
            <a:ext cx="548640" cy="274320"/>
          </a:xfrm>
          <a:prstGeom prst="line">
            <a:avLst/>
          </a:prstGeom>
          <a:noFill/>
          <a:ln w="12700">
            <a:solidFill>
              <a:srgbClr val="B7C2CC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58200" y="3794760"/>
            <a:ext cx="274320" cy="22860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58200" y="4023360"/>
            <a:ext cx="274320" cy="-22860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4846320"/>
            <a:ext cx="2194560" cy="594360"/>
          </a:xfrm>
          <a:prstGeom prst="rect">
            <a:avLst/>
          </a:prstGeom>
          <a:solidFill>
            <a:srgbClr val="0F2A47"/>
          </a:solidFill>
          <a:ln w="6350">
            <a:solidFill>
              <a:srgbClr val="0F2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mapping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0" y="5138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(fold-safe)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66960" y="4297680"/>
            <a:ext cx="0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58368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4,177건은 fold train에만 결합. validation은 Kaggle fold만.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External Data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·  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Ensemble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튜닝보다 다양성 — LGBM/XGB/CatBoost 1:1:1 평균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852160" cy="3017520"/>
        </p:xfrm>
        <a:graphic>
          <a:graphicData uri="http://schemas.openxmlformats.org/drawingml/2006/table">
            <a:tbl>
              <a:tblPr/>
              <a:tblGrid>
                <a:gridCol w="393192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/ 앙상블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OOF RMSLE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LGBM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0.147607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0.147903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0.147773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1:1:1 평균  (equal_linear)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0.147529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1:1:1 log 평균  (equal_log)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F2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0.147530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303520"/>
            <a:ext cx="5852160" cy="10058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best는 LGBM이지만, 세 모델의 오차 패턴이 달라 1:1:1 평균이 더 안정적.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 평균(0.147530)도 거의 동일 — '튜닝보다 다양성'.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675120" y="192024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667512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best는 LGBM이지만 1:1:1 평균이 OOF 0.147529로 더 낮음.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Ensemble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·  PROGRESSION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성능 개선 흐름 한눈에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낙폭은 Modeling → Target Encoding 구간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874520"/>
            <a:ext cx="3383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49640" y="22037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HGBR + log target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698480" y="20391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0.149919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0" y="2788920"/>
            <a:ext cx="3383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964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49640" y="3118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피처 + HGBR 튜닝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698480" y="29535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0.149828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12480" y="3703320"/>
            <a:ext cx="3383280" cy="841248"/>
          </a:xfrm>
          <a:prstGeom prst="rect">
            <a:avLst/>
          </a:prstGeom>
          <a:solidFill>
            <a:srgbClr val="FCEDE7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3703320"/>
            <a:ext cx="64008" cy="84124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8" name="Text 15"/>
          <p:cNvSpPr/>
          <p:nvPr/>
        </p:nvSpPr>
        <p:spPr>
          <a:xfrm>
            <a:off x="854964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49640" y="40325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fold-safe TE + LGBM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698480" y="38679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0.147765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412480" y="4617720"/>
            <a:ext cx="3383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4964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49640" y="49469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UCI 4,177건 결합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98480" y="47823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0.147607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12480" y="5532120"/>
            <a:ext cx="33832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9640" y="5596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Ensemble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549640" y="58613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LGBM/XGB/Cat 1:1:1 평균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698480" y="569671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0.147529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263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낙폭: Modeling → Target Encoding (−0.002).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· 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시 강조 포인트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검증·재현성 측면에서 지킨 원칙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84832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039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처리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id는 식별자이므로 학습 피처 제외. 제출 파일 생성 시에만 사용.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110642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set 사용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218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drift 확인 + 최종 예측에만 사용. 모델 선택에는 사용하지 않음.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110642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056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OOF-safe 구현 — fold train split에서만 mapping 학습.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81144"/>
            <a:ext cx="110642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745736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4700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 vs LB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49926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CV와 public score가 항상 일치하지 않을 수 있음. 제출 로그 별도 관리.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68112"/>
            <a:ext cx="110642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5586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5879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HGBR → LGBM/XGB/CatBoost — 상위권 풀이 실증 + 표현력 차이 때문.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강조 포인트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· 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98480" y="320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9525">
            <a:solidFill>
              <a:srgbClr val="D6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개선 후보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0.147529 — public/private 점수에 따라 우선순위 결정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74520" y="2103120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Optuna로 LGBM/XGB/CatBoost 하이퍼파라미터 튜닝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0" y="2103120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 smoothing 적용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930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74520" y="349300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Shell_weight / Height / Whole_weight rounding 후 target encoding 비교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355848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4930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772400" y="3493008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 구간 (Rings ≥ 16) 전용 진단 · calibration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5440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828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874520" y="4882896"/>
            <a:ext cx="3931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Kaggle public/private 점수 로그를 README/별도 표에 기록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4745736"/>
            <a:ext cx="5440680" cy="120700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88289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/ PRIVATE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248656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[public score TBD]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C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[private score TBD]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Abalone Regression</a:t>
            </a:r>
            <a:pPr indent="0" marL="0">
              <a:buNone/>
            </a:pPr>
            <a:r>
              <a:rPr lang="en-US" sz="900" dirty="0">
                <a:solidFill>
                  <a:srgbClr val="D6DE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다음 단계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E76F5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C2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RMSLE는 비율 오차에 민감하다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651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log1p(target) 학습과 음수 clipping을 함께 가져갔다.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하나씩 비교한다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fold·metric 고정한 baseline 위에 변화 한 가지씩 얹어 비교.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4251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개선은 모델이 아닌 피처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663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HGBR(0.149828) → LGBM + target encoding(0.147765).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2103120"/>
            <a:ext cx="2834640" cy="2377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SUBMISSION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submission_v5_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boosting_ensemble.csv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3520440"/>
            <a:ext cx="2468880" cy="0"/>
          </a:xfrm>
          <a:prstGeom prst="line">
            <a:avLst/>
          </a:prstGeom>
          <a:noFill/>
          <a:ln w="6350">
            <a:solidFill>
              <a:srgbClr val="FBE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BE3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RMSLE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0.147529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365760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코드/데이터: ~/Desktop/abalone-regression/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Abalone Regression — RMSLE 최적화 실험 정리</dc:title>
  <dc:subject>PptxGenJS Presentation</dc:subject>
  <dc:creator>[발표자]</dc:creator>
  <cp:lastModifiedBy>[발표자]</cp:lastModifiedBy>
  <cp:revision>1</cp:revision>
  <dcterms:created xsi:type="dcterms:W3CDTF">2026-04-25T14:04:37Z</dcterms:created>
  <dcterms:modified xsi:type="dcterms:W3CDTF">2026-04-25T14:04:37Z</dcterms:modified>
</cp:coreProperties>
</file>