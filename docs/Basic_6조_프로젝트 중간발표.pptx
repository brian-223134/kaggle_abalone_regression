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9" r:id="rId4"/>
    <p:sldId id="261" r:id="rId5"/>
    <p:sldId id="264" r:id="rId6"/>
    <p:sldId id="262" r:id="rId7"/>
    <p:sldId id="260" r:id="rId8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먼저 일반적인 오차 지표인 RMSE부터.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RMSE는 예측값과 실제값의 절대적 차이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실제 Rings=2, 예측=4 → 오차 2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실제 Rings=20, 예측=22 → 오차 2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Rings=2인 전복을 4라고 했으면 100% 틀린 거고, Rings=20을 22라고 했으면 10% 틀림. 이 차이를 무시하는 게 RMSE의 한계.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---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RMSLE는 비율(상대적 오차)을 봐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RMSLE 수식은 이렇게 생겼어: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```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RMSLE = √[ (1/n) · Σ (log(1+예측) - log(1+실제))² 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```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log를 씌우면 큰 숫자들 사이의 차이가 줄어들고, 작은 숫자들 사이의 차이는 크게 유지돼.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그래서: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Rings=2 → 4: RMSLE 크게 패널티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Rings=20 → 22: RMSLE 작게 패널티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marL="158750" lvl="0" indent="0">
              <a:buNone/>
              <a:defRPr/>
            </a:pPr>
            <a:r>
              <a:rPr lang="ko-KR" altLang="en-US"/>
              <a:t>몇 배나 틀렸냐를 기준으로 오차를 매기는 거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---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Rings 분포를 보면 5~15 사이에 데이터 대부분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여기서 핵심은 Rings가 작은 어린 전복이 데이터의 대부분이라는 거야. 그러니까 어린 전복을 잘 맞추는 게 전체 점수에 훨씬 중요. RMSLE는 이 구간의 오차를 더 크게 반영하니까 이 데이터에 잘 맞는 지표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반대로 RMSE를 쓰면 모델이 Rings=20 이상 극단값에 과하게 집중할 수 있음 (절대 오차가 크니까). 그러면 정작 데이터 대부분인 어린 전복 예측이 엉망이 돼도 점수가 잘 나올 수 있음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---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모델링에서 어캐 대응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RMSLE를 직접 최소화하려면 타깃 자체를 로그 변환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1. `log1p(Rings)` 를 타깃으로 놓고 학습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2. 모델이 로그 스케일에서 예측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3. 예측값에 `expm1` 적용해서 원래 Rings로 복원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4. 이 복원된 값으로 RMSLE 계산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이렇게 하면 모델 내부적으로 RMSLE를 최적화하는 방향으로 학습. 안 하면 모델이 RMSE를 줄이는 방향으로 학습되니까 Kaggle 점수랑 방향이 어긋나게됨.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---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077058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Google Shape;4;n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EDA — 데이터 구경. 결측치 있나? 분포 어때? 이상한 값 있나? 확인하는 단계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Feature Engineering — 원본 컬럼에서 새 컬럼 만들기 (아래 상세 설명)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Baseline — 일단 가장 단순한 모델로 "기준 점수"를 잡음. 이후 개선이 얼마나 됐는지 비교할 기준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Modeling — 더 좋은 모델 써보고, 파라미터 조정하고, 앙상블까지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Submission — Kaggle에 예측 파일 제출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피처 엔지니어링 v1 (17개)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원본 컬럼은 Length, Diameter, Height, 무게 4종, Sex 이렇게 있어.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여기서 새로 만드는 거: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Volume = Length × Diameter × Height → 전복 부피를 직접 계산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Density = 전체무게 / Volume → 밀도. 나이 들수록 껍질이 두꺼워지니까 관련 있을 수 있음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무게 비율 = 살무게/전체무게, 내장무게/전체무게 등 → 각 부위가 전체에서 차지하는 비율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Sex one-hot = M/F/I라는 문자를 숫자로 변환 (모델은 문자를 못 읽으니까)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피처 엔지니어링 v2 (39개)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v1에 추가로: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shape ratio = Diameter/Length, Height/Length 등 → 전복 모양의 비율. 키 큰 전복인지 납작한지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log1p 변환 = 값이 치우쳐 있는 컬럼(무게 등)에 log를 씌워서 분포를 고르게 만듦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목표 결과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RMSLE + log1p(Rings) → 평가지표가 RMSLE라서 타깃도 log 변환하면 학습이 더 잘 됨. 예측 후엔 expm1으로 되돌림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HGBR → 앙상블 → 단순한 모델로 시작해서 점점 강력한 모델로 교체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100등대 → Kaggle 리더보드 목표 순위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669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</a:t>
            </a: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800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</a:t>
            </a:r>
            <a:r>
              <a:rPr b="1" lang="ko" sz="800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b="1"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 xml:space="preserve">AI </a:t>
            </a: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</a:t>
            </a: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24772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>
                <a:solidFill>
                  <a:srgbClr val="19264b"/>
                </a:solidFill>
              </a:rPr>
              <a:t>Regression with an Abalone Dataset</a:t>
            </a:r>
            <a:endParaRPr lang="ko" sz="2500" b="1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rgbClr val="19264b"/>
                </a:solidFill>
              </a:rPr>
              <a:t>  중간 발표</a:t>
            </a:r>
            <a:r>
              <a:rPr lang="ko-KR" altLang="en-US">
                <a:solidFill>
                  <a:srgbClr val="19264b"/>
                </a:solidFill>
              </a:rPr>
              <a:t> </a:t>
            </a:r>
            <a:r>
              <a:rPr lang="en-US" altLang="ko-KR">
                <a:solidFill>
                  <a:srgbClr val="19264b"/>
                </a:solidFill>
              </a:rPr>
              <a:t>2026.04.28</a:t>
            </a:r>
            <a:endParaRPr lang="en-US" altLang="ko-KR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>
                <a:solidFill>
                  <a:srgbClr val="19264b"/>
                </a:solidFill>
              </a:rPr>
              <a:t>Basic 6</a:t>
            </a:r>
            <a:r>
              <a:rPr lang="ko-KR" altLang="en-US">
                <a:solidFill>
                  <a:srgbClr val="19264b"/>
                </a:solidFill>
              </a:rPr>
              <a:t>조 김찬중</a:t>
            </a:r>
            <a:r>
              <a:rPr lang="en-US" altLang="ko-KR">
                <a:solidFill>
                  <a:srgbClr val="19264b"/>
                </a:solidFill>
              </a:rPr>
              <a:t>,</a:t>
            </a:r>
            <a:r>
              <a:rPr lang="ko-KR" altLang="en-US">
                <a:solidFill>
                  <a:srgbClr val="19264b"/>
                </a:solidFill>
              </a:rPr>
              <a:t> 유용선</a:t>
            </a:r>
            <a:r>
              <a:rPr lang="en-US" altLang="ko-KR">
                <a:solidFill>
                  <a:srgbClr val="19264b"/>
                </a:solidFill>
              </a:rPr>
              <a:t>,</a:t>
            </a:r>
            <a:r>
              <a:rPr lang="ko-KR" altLang="en-US">
                <a:solidFill>
                  <a:srgbClr val="19264b"/>
                </a:solidFill>
              </a:rPr>
              <a:t> 이서현</a:t>
            </a:r>
            <a:r>
              <a:rPr lang="en-US" altLang="ko-KR">
                <a:solidFill>
                  <a:srgbClr val="19264b"/>
                </a:solidFill>
              </a:rPr>
              <a:t>,</a:t>
            </a:r>
            <a:r>
              <a:rPr lang="ko-KR" altLang="en-US">
                <a:solidFill>
                  <a:srgbClr val="19264b"/>
                </a:solidFill>
              </a:rPr>
              <a:t> 정효림</a:t>
            </a:r>
            <a:endParaRPr lang="ko-KR" altLang="en-US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10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소개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99" name="body_content"/>
          <p:cNvSpPr txBox="1"/>
          <p:nvPr/>
        </p:nvSpPr>
        <p:spPr>
          <a:xfrm>
            <a:off x="1408975" y="914400"/>
            <a:ext cx="7200000" cy="37109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lvl="0" algn="l">
              <a:lnSpc>
                <a:spcPts val="2800"/>
              </a:lnSpc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ko" sz="1400" b="1">
                <a:solidFill>
                  <a:srgbClr val="19264b"/>
                </a:solidFill>
              </a:rPr>
              <a:t>전복(Abalone)의 나이를 예측하는 회귀(Regression) 문제</a:t>
            </a:r>
            <a:endParaRPr lang="ko" sz="1400" b="1">
              <a:solidFill>
                <a:srgbClr val="19264b"/>
              </a:solidFill>
            </a:endParaRPr>
          </a:p>
          <a:p>
            <a:pPr lvl="0" algn="l"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ko" sz="1100">
                <a:solidFill>
                  <a:srgbClr val="555555"/>
                </a:solidFill>
              </a:rPr>
              <a:t>실제로는 껍질 단면을 현미경으로 고리(Rings)를 세서 나이를 측정 — 시간이 많이 드는 작업</a:t>
            </a:r>
            <a:endParaRPr lang="ko" sz="1100">
              <a:solidFill>
                <a:srgbClr val="555555"/>
              </a:solidFill>
            </a:endParaRPr>
          </a:p>
          <a:p>
            <a:pPr lvl="0" algn="l">
              <a:lnSpc>
                <a:spcPts val="24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ko" sz="1100">
                <a:solidFill>
                  <a:srgbClr val="555555"/>
                </a:solidFill>
              </a:rPr>
              <a:t>대신 신체 치수·무게로 Rings를 예측  →  Age = Rings + 1.5 (년)</a:t>
            </a:r>
            <a:endParaRPr lang="ko" sz="1100">
              <a:solidFill>
                <a:srgbClr val="555555"/>
              </a:solidFill>
            </a:endParaRPr>
          </a:p>
          <a:p>
            <a:pPr lvl="0" algn="l"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  <a:buNone/>
              <a:defRPr/>
            </a:pPr>
            <a:r>
              <a:rPr lang="ko" sz="1200" b="1">
                <a:solidFill>
                  <a:srgbClr val="19264b"/>
                </a:solidFill>
              </a:rPr>
              <a:t>입력 피처</a:t>
            </a:r>
            <a:endParaRPr lang="ko" sz="1200" b="1">
              <a:solidFill>
                <a:srgbClr val="19264b"/>
              </a:solidFill>
            </a:endParaRPr>
          </a:p>
          <a:p>
            <a:pPr marL="228600" lvl="0" indent="-22860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r>
              <a:rPr lang="ko" sz="1100">
                <a:solidFill>
                  <a:srgbClr val="333333"/>
                </a:solidFill>
              </a:rPr>
              <a:t>크기: Length, Diameter, Height</a:t>
            </a:r>
            <a:endParaRPr lang="ko" sz="1100">
              <a:solidFill>
                <a:srgbClr val="333333"/>
              </a:solidFill>
            </a:endParaRPr>
          </a:p>
          <a:p>
            <a:pPr marL="228600" lvl="0" indent="-22860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r>
              <a:rPr lang="ko" sz="1100">
                <a:solidFill>
                  <a:srgbClr val="333333"/>
                </a:solidFill>
              </a:rPr>
              <a:t>무게: Whole weight, Shucked weight, Viscera weight, Shell weight</a:t>
            </a:r>
            <a:endParaRPr lang="ko" sz="1100">
              <a:solidFill>
                <a:srgbClr val="333333"/>
              </a:solidFill>
            </a:endParaRPr>
          </a:p>
          <a:p>
            <a:pPr marL="228600" lvl="0" indent="-228600" algn="l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har char="•"/>
              <a:defRPr/>
            </a:pPr>
            <a:r>
              <a:rPr lang="ko" sz="1100">
                <a:solidFill>
                  <a:srgbClr val="333333"/>
                </a:solidFill>
              </a:rPr>
              <a:t>성별: Sex (M / F / I)</a:t>
            </a:r>
            <a:endParaRPr lang="ko" sz="1100">
              <a:solidFill>
                <a:srgbClr val="333333"/>
              </a:solidFill>
            </a:endParaRPr>
          </a:p>
          <a:p>
            <a:pPr lvl="0" algn="l">
              <a:lnSpc>
                <a:spcPts val="2400"/>
              </a:lnSpc>
              <a:spcBef>
                <a:spcPts val="400"/>
              </a:spcBef>
              <a:spcAft>
                <a:spcPts val="0"/>
              </a:spcAft>
              <a:buNone/>
              <a:defRPr/>
            </a:pPr>
            <a:r>
              <a:rPr lang="ko" sz="1200" b="1">
                <a:solidFill>
                  <a:srgbClr val="19264b"/>
                </a:solidFill>
              </a:rPr>
              <a:t>데이터</a:t>
            </a:r>
            <a:r>
              <a:rPr lang="ko" sz="1100">
                <a:solidFill>
                  <a:srgbClr val="555555"/>
                </a:solidFill>
              </a:rPr>
              <a:t>  </a:t>
            </a:r>
            <a:endParaRPr lang="ko" sz="1100">
              <a:solidFill>
                <a:srgbClr val="555555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100"/>
              </a:spcAft>
              <a:buNone/>
              <a:defRPr/>
            </a:pPr>
            <a:r>
              <a:rPr lang="ko" sz="1100"/>
              <a:t>UCI Machine Learning Repository → Kaggle이 딥러닝 모델로 합성·증강한 버전</a:t>
            </a:r>
            <a:endParaRPr lang="ko" sz="1100">
              <a:solidFill>
                <a:srgbClr val="555555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100"/>
              </a:spcAft>
              <a:buNone/>
              <a:defRPr/>
            </a:pPr>
            <a:r>
              <a:rPr lang="ko" sz="1100">
                <a:solidFill>
                  <a:srgbClr val="555555"/>
                </a:solidFill>
              </a:rPr>
              <a:t>Kaggle Playground Series S4E4 — Train 90,615행 / Test 60,411행</a:t>
            </a:r>
            <a:endParaRPr lang="ko" sz="1100">
              <a:solidFill>
                <a:srgbClr val="555555"/>
              </a:solidFill>
            </a:endParaRPr>
          </a:p>
          <a:p>
            <a:pPr lvl="0" algn="l">
              <a:lnSpc>
                <a:spcPts val="2400"/>
              </a:lnSpc>
              <a:spcBef>
                <a:spcPts val="200"/>
              </a:spcBef>
              <a:spcAft>
                <a:spcPts val="0"/>
              </a:spcAft>
              <a:buNone/>
              <a:defRPr/>
            </a:pPr>
            <a:r>
              <a:rPr lang="ko" sz="1200" b="1">
                <a:solidFill>
                  <a:srgbClr val="19264b"/>
                </a:solidFill>
              </a:rPr>
              <a:t>평가지표</a:t>
            </a:r>
            <a:r>
              <a:rPr lang="ko" sz="1100">
                <a:solidFill>
                  <a:srgbClr val="555555"/>
                </a:solidFill>
              </a:rPr>
              <a:t>  RMSLE — 작은 Rings 값의 상대 오차를 더 크게 패널티</a:t>
            </a:r>
            <a:endParaRPr lang="ko" sz="11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주제를 고른 이유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99" name="body_reason"/>
          <p:cNvSpPr txBox="1"/>
          <p:nvPr/>
        </p:nvSpPr>
        <p:spPr>
          <a:xfrm>
            <a:off x="1408975" y="914400"/>
            <a:ext cx="7200000" cy="31203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228600" lvl="0" indent="-228600"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buChar char="•"/>
              <a:defRPr/>
            </a:pPr>
            <a:r>
              <a:rPr lang="ko" sz="1300" b="1">
                <a:solidFill>
                  <a:srgbClr val="19264b"/>
                </a:solidFill>
              </a:rPr>
              <a:t>회귀 문제 입문으로 적합</a:t>
            </a:r>
            <a:br>
              <a:rPr lang="ko" sz="1100">
                <a:solidFill>
                  <a:srgbClr val="555555"/>
                </a:solidFill>
              </a:rPr>
            </a:br>
            <a:r>
              <a:rPr lang="ko" sz="1100">
                <a:solidFill>
                  <a:srgbClr val="555555"/>
                </a:solidFill>
              </a:rPr>
              <a:t>  팀원들이 본격적인 AI 프로젝트 전에 회귀 문제를 직접 경험해볼 수 있음</a:t>
            </a:r>
            <a:endParaRPr lang="ko" sz="1100">
              <a:solidFill>
                <a:srgbClr val="555555"/>
              </a:solidFill>
            </a:endParaRPr>
          </a:p>
          <a:p>
            <a:pPr marL="228600" lvl="0" indent="-228600"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buChar char="•"/>
              <a:defRPr/>
            </a:pPr>
            <a:r>
              <a:rPr lang="ko" sz="1300" b="1">
                <a:solidFill>
                  <a:srgbClr val="19264b"/>
                </a:solidFill>
              </a:rPr>
              <a:t>Output이 명확함</a:t>
            </a:r>
            <a:r>
              <a:rPr lang="ko-KR" altLang="en-US" sz="1300" b="1">
                <a:solidFill>
                  <a:srgbClr val="19264b"/>
                </a:solidFill>
              </a:rPr>
              <a:t> </a:t>
            </a:r>
            <a:br>
              <a:rPr lang="ko" sz="1100">
                <a:solidFill>
                  <a:srgbClr val="555555"/>
                </a:solidFill>
              </a:rPr>
            </a:br>
            <a:r>
              <a:rPr lang="ko" sz="1100">
                <a:solidFill>
                  <a:srgbClr val="555555"/>
                </a:solidFill>
              </a:rPr>
              <a:t>  숫자(Rings)를 예측하는 문제라 결과 해석이 직관적이고 평가가 쉬움</a:t>
            </a:r>
            <a:endParaRPr lang="ko" sz="1100">
              <a:solidFill>
                <a:srgbClr val="555555"/>
              </a:solidFill>
            </a:endParaRPr>
          </a:p>
          <a:p>
            <a:pPr marL="228600" lvl="0" indent="-228600" algn="l">
              <a:lnSpc>
                <a:spcPts val="2600"/>
              </a:lnSpc>
              <a:spcBef>
                <a:spcPts val="0"/>
              </a:spcBef>
              <a:spcAft>
                <a:spcPts val="800"/>
              </a:spcAft>
              <a:buChar char="•"/>
              <a:defRPr/>
            </a:pPr>
            <a:r>
              <a:rPr lang="ko" sz="1300" b="1">
                <a:solidFill>
                  <a:srgbClr val="19264b"/>
                </a:solidFill>
              </a:rPr>
              <a:t>에러를 줄이는 방법이 다양함</a:t>
            </a:r>
            <a:br>
              <a:rPr lang="ko" sz="1100">
                <a:solidFill>
                  <a:srgbClr val="555555"/>
                </a:solidFill>
              </a:rPr>
            </a:br>
            <a:r>
              <a:rPr lang="ko" sz="1100">
                <a:solidFill>
                  <a:srgbClr val="555555"/>
                </a:solidFill>
              </a:rPr>
              <a:t>  피처 엔지니어링, 모델 튜닝, 앙상블 등 여러 접근 방식을 시도해볼 수 있어 학습 효과 높음</a:t>
            </a:r>
            <a:endParaRPr lang="ko" sz="1100">
              <a:solidFill>
                <a:srgbClr val="555555"/>
              </a:solidFill>
            </a:endParaRPr>
          </a:p>
          <a:p>
            <a:pPr marL="228600" lvl="0" indent="-22860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r>
              <a:rPr lang="ko" sz="1300" b="1">
                <a:solidFill>
                  <a:srgbClr val="19264b"/>
                </a:solidFill>
              </a:rPr>
              <a:t>연습용으로 딱 적합한 난이도</a:t>
            </a:r>
            <a:br>
              <a:rPr lang="ko" sz="1100">
                <a:solidFill>
                  <a:srgbClr val="555555"/>
                </a:solidFill>
              </a:rPr>
            </a:br>
            <a:r>
              <a:rPr lang="ko" sz="1100">
                <a:solidFill>
                  <a:srgbClr val="555555"/>
                </a:solidFill>
              </a:rPr>
              <a:t>  결측치 없고 데이터 깨끗 → 데이터 정제보다 모델링에 집중 가능</a:t>
            </a:r>
            <a:endParaRPr lang="ko" sz="11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91" name="Google Shape;91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평가지표 — RMSLE를 쓰는 이유</a:t>
            </a:r>
            <a:endParaRPr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201" name="ContentBox2"/>
          <p:cNvSpPr txBox="1"/>
          <p:nvPr/>
        </p:nvSpPr>
        <p:spPr>
          <a:xfrm>
            <a:off x="1408970" y="899999"/>
            <a:ext cx="7607300" cy="383962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o" sz="1300" b="1">
                <a:solidFill>
                  <a:srgbClr val="19264b"/>
                </a:solidFill>
              </a:rPr>
              <a:t>RMSLE란?</a:t>
            </a:r>
            <a:endParaRPr lang="ko" sz="1300" b="1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r>
              <a:rPr lang="ko" sz="1300"/>
              <a:t>Root Mean Squared Logarithmic Error — 예측값과 실제값의 로그 차이를 기반으로 오차를 계산</a:t>
            </a:r>
            <a:endParaRPr lang="ko" sz="1300"/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endParaRPr lang="ko" sz="1300"/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endParaRPr lang="ko" sz="1300"/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endParaRPr lang="ko" sz="1300"/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endParaRPr lang="ko" sz="1300"/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endParaRPr lang="ko" sz="1300"/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endParaRPr lang="ko" sz="1300"/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o" sz="1300" b="1">
                <a:solidFill>
                  <a:srgbClr val="19264b"/>
                </a:solidFill>
              </a:rPr>
              <a:t>RMSE 대신 RMSLE를 쓰는 이유</a:t>
            </a:r>
            <a:endParaRPr lang="ko" sz="1300" b="1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150"/>
              </a:spcAft>
              <a:buNone/>
              <a:defRPr/>
            </a:pPr>
            <a:r>
              <a:rPr lang="ko" sz="1300"/>
              <a:t>• Rings가 작은 어린 전복의 오차를 더 크게 패널티 → 상대적 오차에 민감</a:t>
            </a:r>
            <a:endParaRPr lang="ko" sz="1300"/>
          </a:p>
          <a:p>
            <a:pPr marL="0" lvl="0" indent="0" algn="l" rtl="0">
              <a:spcBef>
                <a:spcPts val="100"/>
              </a:spcBef>
              <a:spcAft>
                <a:spcPts val="150"/>
              </a:spcAft>
              <a:buNone/>
              <a:defRPr/>
            </a:pPr>
            <a:r>
              <a:rPr lang="ko" sz="1300"/>
              <a:t>• 예) Rings=2를 4로 예측 vs Rings=20을 22로 예측 — 절대 오차는 같지만 RMSLE는 전자가 훨씬 큼</a:t>
            </a:r>
            <a:endParaRPr lang="ko" sz="1300"/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r>
              <a:rPr lang="ko" sz="1300"/>
              <a:t>• 전복 나이 특성상 어린 개체(Rings 5~10)가 데이터의 대부분 → </a:t>
            </a:r>
            <a:r>
              <a:rPr lang="ko-KR" altLang="en-US" sz="1300"/>
              <a:t>이 구간을 잘 맞춰야함</a:t>
            </a:r>
            <a:endParaRPr lang="en-US" altLang="ko-KR" sz="1300"/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  <a:defRPr/>
            </a:pPr>
            <a:endParaRPr lang="ko" sz="1300" b="1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o" sz="1300" b="1">
                <a:solidFill>
                  <a:srgbClr val="19264b"/>
                </a:solidFill>
              </a:rPr>
              <a:t>모델링에 미치는 영향</a:t>
            </a:r>
            <a:endParaRPr lang="ko" sz="1300" b="1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  <a:defRPr/>
            </a:pPr>
            <a:r>
              <a:rPr lang="ko" sz="1300"/>
              <a:t>• 타깃을 log1p(Rings)로 변환 후 학습 → 예측 후 expm1으로 복원하면 RMSLE 최적화에 유리</a:t>
            </a:r>
            <a:endParaRPr lang="ko" sz="1300"/>
          </a:p>
        </p:txBody>
      </p:sp>
      <p:pic>
        <p:nvPicPr>
          <p:cNvPr id="202" name="그림 20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743200" y="1527703"/>
            <a:ext cx="36576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6243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297350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>
                <a:solidFill>
                  <a:srgbClr val="19264b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셋업 계획</a:t>
            </a:r>
            <a:endParaRPr sz="2000">
              <a:solidFill>
                <a:srgbClr val="19264b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  <p:sp>
        <p:nvSpPr>
          <p:cNvPr id="399" name="body_setup"/>
          <p:cNvSpPr txBox="1"/>
          <p:nvPr/>
        </p:nvSpPr>
        <p:spPr>
          <a:xfrm>
            <a:off x="1408975" y="914400"/>
            <a:ext cx="7200000" cy="316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lvl="0" algn="l">
              <a:lnSpc>
                <a:spcPts val="2400"/>
              </a:lnSpc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ko" sz="1300" b="1">
                <a:solidFill>
                  <a:srgbClr val="19264b"/>
                </a:solidFill>
              </a:rPr>
              <a:t>목표 결과물</a:t>
            </a:r>
            <a:r>
              <a:rPr lang="ko" sz="1100">
                <a:solidFill>
                  <a:srgbClr val="555555"/>
                </a:solidFill>
              </a:rPr>
              <a:t>  OOF RMSLE 최소화 + Kaggle 100등대 진입</a:t>
            </a:r>
            <a:endParaRPr lang="ko" sz="1100">
              <a:solidFill>
                <a:srgbClr val="555555"/>
              </a:solidFill>
            </a:endParaRPr>
          </a:p>
          <a:p>
            <a:pPr lvl="0" algn="l">
              <a:lnSpc>
                <a:spcPts val="2400"/>
              </a:lnSpc>
              <a:spcBef>
                <a:spcPts val="0"/>
              </a:spcBef>
              <a:spcAft>
                <a:spcPts val="200"/>
              </a:spcAft>
              <a:buNone/>
              <a:defRPr/>
            </a:pPr>
            <a:endParaRPr lang="ko" sz="1100">
              <a:solidFill>
                <a:srgbClr val="555555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r>
              <a:rPr lang="ko-KR" altLang="en-US" sz="1300" b="1">
                <a:solidFill>
                  <a:srgbClr val="19264b"/>
                </a:solidFill>
              </a:rPr>
              <a:t>파이프 라인 </a:t>
            </a:r>
            <a:r>
              <a:rPr lang="ko" sz="1300"/>
              <a:t>EDA  →  Feature Engineering  →  Baseline  →  Modeling  →  Submission</a:t>
            </a:r>
            <a:endParaRPr lang="ko" sz="1300"/>
          </a:p>
          <a:p>
            <a:pPr marL="228600" lvl="0" indent="-228600" algn="l">
              <a:lnSpc>
                <a:spcPts val="2300"/>
              </a:lnSpc>
              <a:spcBef>
                <a:spcPts val="0"/>
              </a:spcBef>
              <a:spcAft>
                <a:spcPts val="300"/>
              </a:spcAft>
              <a:buChar char="①"/>
              <a:defRPr/>
            </a:pPr>
            <a:r>
              <a:rPr lang="ko" sz="1200" b="1">
                <a:solidFill>
                  <a:srgbClr val="19264b"/>
                </a:solidFill>
              </a:rPr>
              <a:t> EDA </a:t>
            </a:r>
            <a:r>
              <a:rPr lang="ko" sz="1200">
                <a:solidFill>
                  <a:srgbClr val="555555"/>
                </a:solidFill>
              </a:rPr>
              <a:t>분포, 상관관계, 이상치 확인 → 전처리 방향 결정</a:t>
            </a:r>
            <a:endParaRPr lang="ko" sz="1200">
              <a:solidFill>
                <a:srgbClr val="555555"/>
              </a:solidFill>
            </a:endParaRPr>
          </a:p>
          <a:p>
            <a:pPr marL="228600" lvl="0" indent="-228600" algn="l">
              <a:lnSpc>
                <a:spcPts val="2300"/>
              </a:lnSpc>
              <a:spcBef>
                <a:spcPts val="0"/>
              </a:spcBef>
              <a:spcAft>
                <a:spcPts val="300"/>
              </a:spcAft>
              <a:buChar char="②"/>
              <a:defRPr/>
            </a:pPr>
            <a:r>
              <a:rPr lang="ko" sz="1200" b="1">
                <a:solidFill>
                  <a:srgbClr val="19264b"/>
                </a:solidFill>
              </a:rPr>
              <a:t> 피처 엔지니어링 </a:t>
            </a:r>
            <a:r>
              <a:rPr lang="ko" sz="1200">
                <a:solidFill>
                  <a:srgbClr val="555555"/>
                </a:solidFill>
              </a:rPr>
              <a:t>Volume, Density, 무게 비율, log1p 변환 피처 등 파생 변수 생성 (v1 → v2)</a:t>
            </a:r>
            <a:endParaRPr lang="ko" sz="1200">
              <a:solidFill>
                <a:srgbClr val="555555"/>
              </a:solidFill>
            </a:endParaRPr>
          </a:p>
          <a:p>
            <a:pPr marL="0" lvl="0" indent="0" algn="l" rtl="0">
              <a:spcBef>
                <a:spcPts val="100"/>
              </a:spcBef>
              <a:spcAft>
                <a:spcPts val="100"/>
              </a:spcAft>
              <a:buNone/>
              <a:defRPr/>
            </a:pPr>
            <a:r>
              <a:rPr lang="ko-KR" altLang="en-US" sz="1200">
                <a:solidFill>
                  <a:srgbClr val="555555"/>
                </a:solidFill>
              </a:rPr>
              <a:t>        </a:t>
            </a:r>
            <a:r>
              <a:rPr lang="ko" sz="1200"/>
              <a:t>• v1 (17개): Volume, Density, 무게 비율, Sex one-hot</a:t>
            </a:r>
            <a:endParaRPr lang="ko" sz="1200"/>
          </a:p>
          <a:p>
            <a:pPr marL="0" lvl="0" indent="0" algn="l" rtl="0">
              <a:spcBef>
                <a:spcPts val="100"/>
              </a:spcBef>
              <a:spcAft>
                <a:spcPts val="400"/>
              </a:spcAft>
              <a:buNone/>
              <a:defRPr/>
            </a:pPr>
            <a:r>
              <a:rPr lang="ko-KR" altLang="en-US" sz="1200"/>
              <a:t>        </a:t>
            </a:r>
            <a:r>
              <a:rPr lang="ko" sz="1200"/>
              <a:t>• v2 (39개): shape ratio, log1p 변환 추가</a:t>
            </a:r>
            <a:endParaRPr lang="ko" sz="1200"/>
          </a:p>
          <a:p>
            <a:pPr marL="228600" lvl="0" indent="-228600" algn="l">
              <a:lnSpc>
                <a:spcPts val="2300"/>
              </a:lnSpc>
              <a:spcBef>
                <a:spcPts val="0"/>
              </a:spcBef>
              <a:spcAft>
                <a:spcPts val="300"/>
              </a:spcAft>
              <a:buChar char="③"/>
              <a:defRPr/>
            </a:pPr>
            <a:r>
              <a:rPr lang="ko" sz="1200" b="1">
                <a:solidFill>
                  <a:srgbClr val="19264b"/>
                </a:solidFill>
              </a:rPr>
              <a:t> Baseline 비교 </a:t>
            </a:r>
            <a:r>
              <a:rPr lang="ko" sz="1200">
                <a:solidFill>
                  <a:srgbClr val="555555"/>
                </a:solidFill>
              </a:rPr>
              <a:t>Ridge → RandomForest → HistGradientBoosting + log target 순으로 비교</a:t>
            </a:r>
            <a:endParaRPr lang="ko" sz="1200">
              <a:solidFill>
                <a:srgbClr val="555555"/>
              </a:solidFill>
            </a:endParaRPr>
          </a:p>
          <a:p>
            <a:pPr marL="228600" lvl="0" indent="-228600" algn="l">
              <a:lnSpc>
                <a:spcPts val="2300"/>
              </a:lnSpc>
              <a:spcBef>
                <a:spcPts val="0"/>
              </a:spcBef>
              <a:spcAft>
                <a:spcPts val="300"/>
              </a:spcAft>
              <a:buChar char="④"/>
              <a:defRPr/>
            </a:pPr>
            <a:r>
              <a:rPr lang="ko" sz="1200" b="1">
                <a:solidFill>
                  <a:srgbClr val="19264b"/>
                </a:solidFill>
              </a:rPr>
              <a:t> 모델 개선 </a:t>
            </a:r>
            <a:r>
              <a:rPr lang="ko" sz="1200">
                <a:solidFill>
                  <a:srgbClr val="555555"/>
                </a:solidFill>
              </a:rPr>
              <a:t>Target Encoding + LGBM/XGBoost/CatBoost 앙상블로 성능 끌어올리기</a:t>
            </a:r>
            <a:endParaRPr lang="ko" sz="1200">
              <a:solidFill>
                <a:srgbClr val="555555"/>
              </a:solidFill>
            </a:endParaRPr>
          </a:p>
          <a:p>
            <a:pPr marL="228600" lvl="0" indent="-22860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har char="⑤"/>
              <a:defRPr/>
            </a:pPr>
            <a:r>
              <a:rPr lang="ko" sz="1200" b="1">
                <a:solidFill>
                  <a:srgbClr val="19264b"/>
                </a:solidFill>
              </a:rPr>
              <a:t> 제출 </a:t>
            </a:r>
            <a:r>
              <a:rPr lang="ko" sz="1200">
                <a:solidFill>
                  <a:srgbClr val="555555"/>
                </a:solidFill>
              </a:rPr>
              <a:t>5-fold CV 기준 최적 모델로 최종 예측 파일 생성 후 Kaggle 제출</a:t>
            </a:r>
            <a:endParaRPr lang="ko" sz="12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926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800">
                <a:solidFill>
                  <a:schemeClr val="lt1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감사합니다</a:t>
            </a:r>
            <a:r>
              <a:rPr lang="en-US" altLang="ko-KR" sz="4800">
                <a:solidFill>
                  <a:schemeClr val="lt1"/>
                </a:solidFill>
                <a:latin typeface="나눔고딕 ExtraBold"/>
                <a:ea typeface="나눔고딕 ExtraBold"/>
                <a:cs typeface="나눔고딕 ExtraBold"/>
                <a:sym typeface="나눔고딕 ExtraBold"/>
              </a:rPr>
              <a:t>.</a:t>
            </a:r>
            <a:endParaRPr lang="en-US" altLang="ko-KR" sz="4800">
              <a:solidFill>
                <a:schemeClr val="lt1"/>
              </a:solidFill>
              <a:latin typeface="나눔고딕 ExtraBold"/>
              <a:ea typeface="나눔고딕 ExtraBold"/>
              <a:cs typeface="나눔고딕 ExtraBold"/>
              <a:sym typeface="나눔고딕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326</ep:Words>
  <ep:PresentationFormat/>
  <ep:Paragraphs>61</ep:Paragraphs>
  <ep:Slides>6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hyoli</cp:lastModifiedBy>
  <dcterms:modified xsi:type="dcterms:W3CDTF">2026-04-28T04:33:10.931</dcterms:modified>
  <cp:revision>15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